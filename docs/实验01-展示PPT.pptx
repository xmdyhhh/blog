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3A8A"/>
            </a:gs>
            <a:gs pos="100000">
              <a:srgbClr val="3B82F6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实验01 开源个人博客系统二次开发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FDBFE"/>
                </a:solidFill>
                <a:latin typeface="微软雅黑"/>
              </a:defRPr>
            </a:pPr>
            <a:r>
              <a:t>基于 Ghost v6.59.0 的可注册、可写作、可评论、可搜索博客系统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84048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BEAFE"/>
                </a:solidFill>
                <a:latin typeface="微软雅黑"/>
              </a:defRPr>
            </a:pPr>
            <a:r>
              <a:t>《开源软件与新技术》课程实验 · 2026年9月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微软雅黑"/>
              </a:defRPr>
            </a:pPr>
            <a:r>
              <a:t>上游项目：Ghost (MIT License) · 自定义主题：oss-blog-theme 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  <a:latin typeface="微软雅黑"/>
              </a:defRPr>
            </a:pPr>
            <a:r>
              <a:t>汇报目录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7315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项目背景与目标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技术选型与系统架构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5303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自定义主题与自主扩展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468880"/>
            <a:ext cx="5303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560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测试结果与质量保障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5303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Git 版本管理与开源规范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474720"/>
            <a:ext cx="5303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566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问题反思与总结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B5563"/>
                </a:solidFill>
                <a:latin typeface="微软雅黑"/>
              </a:defRPr>
            </a:pPr>
            <a:r>
              <a:t>本次汇报约 8 分钟，包含 Live Demo 现场演示环节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01 项目背景与目标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微软雅黑"/>
              </a:defRPr>
            </a:pPr>
            <a:r>
              <a:t>实验背景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B5563"/>
                </a:solidFill>
                <a:latin typeface="微软雅黑"/>
              </a:defRPr>
            </a:pPr>
            <a:r>
              <a:t>开源软件已成为现代软件开发的基石。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B5563"/>
                </a:solidFill>
                <a:latin typeface="微软雅黑"/>
              </a:defRPr>
            </a:pPr>
            <a:r>
              <a:t>本实验要求基于成熟开源项目进行二次开发，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B5563"/>
                </a:solidFill>
                <a:latin typeface="微软雅黑"/>
              </a:defRPr>
            </a:pPr>
            <a:r>
              <a:t>深入理解开源项目的架构、代码规范和协作流程，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B5563"/>
                </a:solidFill>
                <a:latin typeface="微软雅黑"/>
              </a:defRPr>
            </a:pPr>
            <a:r>
              <a:t>培养在真实开源代码基础上进行定制化开发的能力。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微软雅黑"/>
              </a:defRPr>
            </a:pPr>
            <a:r>
              <a:t>核心目标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B5563"/>
                </a:solidFill>
                <a:latin typeface="微软雅黑"/>
              </a:defRPr>
            </a:pPr>
            <a:r>
              <a:t>• 基于 Ghost 搭建可运行的个人博客系统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B5563"/>
                </a:solidFill>
                <a:latin typeface="微软雅黑"/>
              </a:defRPr>
            </a:pPr>
            <a:r>
              <a:t>• 实现可注册、可写作、可评论、可搜索四大功能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B5563"/>
                </a:solidFill>
                <a:latin typeface="微软雅黑"/>
              </a:defRPr>
            </a:pPr>
            <a:r>
              <a:t>• 开发自定义主题，至少完成一项自主扩展功能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4B5563"/>
                </a:solidFill>
                <a:latin typeface="微软雅黑"/>
              </a:defRPr>
            </a:pPr>
            <a:r>
              <a:t>• 遵循开源规范，完成 Git 版本管理与文档交付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11274552" cy="3017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微软雅黑"/>
              </a:defRPr>
            </a:pPr>
            <a:r>
              <a:t>功能需求清单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微软雅黑"/>
              </a:defRPr>
            </a:pPr>
            <a:r>
              <a:t>用户管理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管理员账号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会员注册/登录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权限分级控制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微软雅黑"/>
              </a:defRPr>
            </a:pPr>
            <a:r>
              <a:t>内容管理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2976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文章创建/编辑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标签分类管理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Markdown 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微软雅黑"/>
              </a:defRPr>
            </a:pPr>
            <a:r>
              <a:t>互动功能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976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会员评论系统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相关文章推荐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搜索增强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微软雅黑"/>
              </a:defRPr>
            </a:pPr>
            <a:r>
              <a:t>工程规范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39" y="42976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Git 分支管理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PR/Code Review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完整文档交付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02 技术选型与系统架构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微软雅黑"/>
              </a:defRPr>
            </a:pPr>
            <a:r>
              <a:t>技术栈选型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运行时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Node.js 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v22.23.1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博客核心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Ghost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v6.59.0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SQLite3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内置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主题引擎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Handlebars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v4.x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前端样式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CSS3 + 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原生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微软雅黑"/>
              </a:defRPr>
            </a:pPr>
            <a:r>
              <a:t>选型理由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760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Ghost：专业博客平台，MIT 开源协议，架构清晰，主题系统成熟，API 完善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SQLite：零配置文件数据库，适合个人博客，便于备份迁移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Handlebars：语义化模板引擎，Ghost 原生支持，学习成本低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Node 22：Ghost 官方要求的 LTS 版本，兼容性有保障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微软雅黑"/>
              </a:defRPr>
            </a:pPr>
            <a:r>
              <a:t>系统架构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2560320" cy="1371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  <a:latin typeface="微软雅黑"/>
              </a:defRPr>
            </a:pPr>
            <a:r>
              <a:t>浏览器客户端</a:t>
            </a:r>
            <a:br/>
            <a:r>
              <a:t>前台 + 管理后台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663440"/>
            <a:ext cx="2560320" cy="1371600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48463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  <a:latin typeface="微软雅黑"/>
              </a:defRPr>
            </a:pPr>
            <a:r>
              <a:t>Ghost 核心服务</a:t>
            </a:r>
            <a:br/>
            <a:r>
              <a:t>Express + Handlebars</a:t>
            </a:r>
            <a:br/>
            <a:r>
              <a:t>REST Admin/Content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63440"/>
            <a:ext cx="2560320" cy="1371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8463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  <a:latin typeface="微软雅黑"/>
              </a:defRPr>
            </a:pPr>
            <a:r>
              <a:t>自定义主题层</a:t>
            </a:r>
            <a:br/>
            <a:r>
              <a:t>oss-blog-theme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4663440"/>
            <a:ext cx="2560320" cy="1371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8463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  <a:latin typeface="微软雅黑"/>
              </a:defRPr>
            </a:pPr>
            <a:r>
              <a:t>SQLite</a:t>
            </a:r>
            <a:br/>
            <a:r>
              <a:t>数据持久化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03 上游基线与修改边界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上游基线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Ghost Core：v6.59.0，未修改核心代码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基础主题：Source v1.7.2（Ghost 官方主题）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许可证：MIT License，允许二次开发与商用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修改边界原则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不修改 Ghost 核心代码，通过主题和 API 扩展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新增文件使用 oss- 前缀，与上游文件明确区分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修改上游文件时保留原始结构，仅增量修改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微软雅黑"/>
              </a:defRPr>
            </a:pPr>
            <a:r>
              <a:t>文件级差异统计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108960"/>
          <a:ext cx="112745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97280"/>
                <a:gridCol w="1097280"/>
                <a:gridCol w="587959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文件/目录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assets/css/oss-custom.css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新增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自定义样式，含响应式/无障碍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assets/js/oss-search.js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新增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搜索增强，纯前端实现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navigation.hbs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+25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中文化、类名前缀、无障碍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post-card.hbs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+18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阅读时间、中文日期、标签图标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post.hbs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+45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重写相关文章推荐区域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default.hbs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+8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添加自定义 CSS/JS 引用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04 自定义主题开发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56616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导航栏定制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导航项全面中文化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oss- 类名前缀区分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aria-label 无障碍增强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毛玻璃背景效果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滚动时阴影变化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0584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005840"/>
            <a:ext cx="356616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051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文章卡片定制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显示预计阅读时间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中文日期格式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# 标签图标展示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悬停上浮动画效果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卡片阴影层次感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0584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56616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051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样式系统增强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oss-custom.css 373行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完整响应式断点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高对比度模式支持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减少动画偏好支持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搜索弹窗专属样式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微软雅黑"/>
              </a:defRPr>
            </a:pPr>
            <a:r>
              <a:t>主题文件结构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11274552" cy="2377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oss-blog-theme/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├── package.json              # 主题配置 v1.0.0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├── default.hbs               # 修改：添加自定义资源引用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├── post.hbs                  # 修改：相关文章推荐区域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├── partials/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│   ├── components/navigation.hbs   # 修改：中文化+无障碍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│   └── post-card.hbs               # 修改：阅读时间+日期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└── assets/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  ├── css/oss-custom.css          # 新增：373行自定义样式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  └── js/oss-search.js            # 新增：401行搜索增强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05 自主扩展一：相关文章推荐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功能设计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在文章详情页底部展示与当前文章主题相关的推荐文章，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提升用户阅读深度和站内停留时间。基于标签相似度算法，最多展示4篇。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6534"/>
                </a:solidFill>
                <a:latin typeface="微软雅黑"/>
              </a:defRPr>
            </a:pPr>
            <a:r>
              <a:t>技术实现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使用 Ghost 原生 {{#get}} 助手查询，按 primary_tag 过滤同标签文章，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排除当前文章，按发布时间降序排列。无需后端代码修改，纯主题层实现。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微软雅黑"/>
              </a:defRPr>
            </a:pPr>
            <a:r>
              <a:t>核心代码逻辑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11274552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{{!-- 相关文章推荐：基于主标签相似度 --}}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{{#get "posts" filter="primary_tag:{{primary_tag.slug}}+id:-{{id}}"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   limit="4" order="published_at desc" include="tags"}}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{{#if posts}}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  {{#foreach posts}}  {{!-- 渲染文章卡片 --}}  {{/foreach}}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{{else}}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  {{!-- 回退：展示最新文章并提示 --}}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{{/if}}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{{/get}}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5486400" cy="1097280"/>
          </a:xfrm>
          <a:prstGeom prst="roundRect">
            <a:avLst/>
          </a:prstGeom>
          <a:solidFill>
            <a:srgbClr val="FEF9C7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713F12"/>
                </a:solidFill>
                <a:latin typeface="微软雅黑"/>
              </a:defRPr>
            </a:pPr>
            <a:r>
              <a:t>设计亮点：优雅降级机制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713F12"/>
                </a:solidFill>
                <a:latin typeface="微软雅黑"/>
              </a:defRPr>
            </a:pPr>
            <a:r>
              <a:t>无同标签文章时自动回退到最新文章，并显示"暂无同标签文章"提示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212080"/>
            <a:ext cx="5486400" cy="109728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3035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831843"/>
                </a:solidFill>
                <a:latin typeface="微软雅黑"/>
              </a:defRPr>
            </a:pPr>
            <a:r>
              <a:t>测试验证：TC-019 测试用例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831843"/>
                </a:solidFill>
                <a:latin typeface="微软雅黑"/>
              </a:defRPr>
            </a:pPr>
            <a:r>
              <a:t>有标签文章显示相关推荐，无标签文章显示回退内容，推荐数量不超过4篇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06 自主扩展二：搜索增强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快捷键唤起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Ctrl/Cmd + K 快捷键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模态弹窗展示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ESC 键关闭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点击遮罩关闭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自动聚焦输入框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097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智能搜索体验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关键词 mark 高亮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300ms 防抖请求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加载动画反馈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上下箭头键盘导航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Enter 跳转首条结果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05840"/>
            <a:ext cx="3566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097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无结果智能建议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5087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显示热门标签列表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点击标签自动搜索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友好的空状态提示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搜索历史记录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• 结果数量统计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530352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用户输入 → 300ms防抖 → Ghost Content API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   ↓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解析JSON → 关键词高亮 → 渲染结果列表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   ↓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onsolas"/>
              </a:defRPr>
            </a:pPr>
            <a:r>
              <a:t>  无结果 → 获取热门标签 → 显示建议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安全设计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486400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66534"/>
                </a:solidFill>
                <a:latin typeface="微软雅黑"/>
              </a:defRPr>
            </a:pPr>
            <a:r>
              <a:t>• 仅使用 Content API（只读 Key）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66534"/>
                </a:solidFill>
                <a:latin typeface="微软雅黑"/>
              </a:defRPr>
            </a:pPr>
            <a:r>
              <a:t>• 不暴露 Admin API Key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66534"/>
                </a:solidFill>
                <a:latin typeface="微软雅黑"/>
              </a:defRPr>
            </a:pPr>
            <a:r>
              <a:t>• XSS 防护：文本转义后渲染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66534"/>
                </a:solidFill>
                <a:latin typeface="微软雅黑"/>
              </a:defRPr>
            </a:pPr>
            <a:r>
              <a:t>• 请求失败优雅降级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94960"/>
            <a:ext cx="11274552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E3A8A"/>
                </a:solidFill>
                <a:latin typeface="微软雅黑"/>
              </a:defRPr>
            </a:pPr>
            <a:r>
              <a:t>实现规模：oss-search.js 共 401 行纯前端 JavaScript，零依赖，兼容现代浏览器。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E3A8A"/>
                </a:solidFill>
                <a:latin typeface="微软雅黑"/>
              </a:defRPr>
            </a:pPr>
            <a:r>
              <a:t>通过 TC-007（搜索命中）、TC-008（无结果提示）、TC-015（键盘可访问）三项测试用例验证。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07 测试结果与质量保障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560320" cy="11887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6A34A"/>
                </a:solidFill>
                <a:latin typeface="微软雅黑"/>
              </a:defRPr>
            </a:pPr>
            <a:r>
              <a:t>20/20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/>
              </a:defRPr>
            </a:pPr>
            <a:r>
              <a:t>测试全部通过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05840"/>
            <a:ext cx="2560320" cy="11887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097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微软雅黑"/>
              </a:defRPr>
            </a:pPr>
            <a:r>
              <a:t>4类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微软雅黑"/>
              </a:defRPr>
            </a:pPr>
            <a:r>
              <a:t>测试覆盖维度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05840"/>
            <a:ext cx="2560320" cy="1188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097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C2626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微软雅黑"/>
              </a:defRPr>
            </a:pPr>
            <a:r>
              <a:t>严重缺陷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005840"/>
            <a:ext cx="2560320" cy="1188720"/>
          </a:xfrm>
          <a:prstGeom prst="roundRect">
            <a:avLst/>
          </a:prstGeom>
          <a:solidFill>
            <a:srgbClr val="FEF9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0972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97706"/>
                </a:solidFill>
                <a:latin typeface="微软雅黑"/>
              </a:defRPr>
            </a:pPr>
            <a:r>
              <a:t>9篇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微软雅黑"/>
              </a:defRPr>
            </a:pPr>
            <a:r>
              <a:t>演示文章数据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微软雅黑"/>
              </a:defRPr>
            </a:pPr>
            <a:r>
              <a:t>测试用例分类与结果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926080"/>
          <a:ext cx="9875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5486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测试类别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覆盖内容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通过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失败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功能测试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登录、文章CRUD、标签、评论、搜索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  <a:latin typeface="微软雅黑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权限测试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匿名访问、匿名禁后台、会员禁后台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界面测试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桌面布局、移动端响应式、键盘可访问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恢复测试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重启数据保留、内容导出与恢复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自主扩展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相关文章推荐、搜索增强功能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微软雅黑"/>
              </a:defRPr>
            </a:pPr>
            <a:r>
              <a:t>测试文档：tests/acceptance.md · 数据备份：SQLite 1.5MB + JSON 109KB · 备份恢复说明：docs/backup-restore.md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08 Git 版本管理与开源规范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提交历史（7非合并 + 1合并）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* baf69cd (HEAD -&gt; main, origin/main)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|   docs: 补充实验报告、截图、PPT、启动入口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*   882cd7b (tag: v1.0-lab)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|\   merge: 合并自主扩展功能到main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| * e77a7cf docs: PR与Code Review记录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| * e55126a docs: README/NOTICE/备份恢复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| * 86e693c test: 20项验收测试用例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| * a94c800 feat(enhancement): 自主扩展功能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| * 8103140 feat(theme): 自定义主题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|/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* 900732e chore: 初始化项目骨架与基线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分支策略：main + feature/*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提交规范：Conventional Commits</a:t>
            </a:r>
          </a:p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  <a:latin typeface="Consolas"/>
              </a:defRPr>
            </a:pPr>
            <a:r>
              <a:t>版本标签：v1.0-lab (annotated)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Pull Request 与 Code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8A"/>
                </a:solidFill>
                <a:latin typeface="微软雅黑"/>
              </a:defRPr>
            </a:pPr>
            <a:r>
              <a:t>PR #1: 自定义主题开发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• 分支：feature/theme-customization → main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• 审查清单：代码规范、无障碍、响应式、安全性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• 审查意见：3条建议，全部回复并处理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• 结论：Approved，合并到 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17520"/>
            <a:ext cx="5486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8A"/>
                </a:solidFill>
                <a:latin typeface="微软雅黑"/>
              </a:defRPr>
            </a:pPr>
            <a:r>
              <a:t>PR #2: 自主扩展功能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• 分支：feature/blog-enhancement → main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• 审查重点：API Key 安全、XSS防护、错误处理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• 审查意见：2条建议（防抖优化、空状态处理）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• 结论：Approved，合并到 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11274552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E3A8A"/>
                </a:solidFill>
                <a:latin typeface="微软雅黑"/>
              </a:defRPr>
            </a:pPr>
            <a:r>
              <a:t>开源合规：MIT License 保留 · NOTICE.md 声明第三方资源 · .gitignore 排除敏感文件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3A8A"/>
                </a:solidFill>
                <a:latin typeface="微软雅黑"/>
              </a:defRPr>
            </a:pPr>
            <a:r>
              <a:t>（API Key、数据库、node_modules）· 上游修改边界清晰（oss- 前缀区分）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3A8A"/>
                </a:solidFill>
                <a:latin typeface="微软雅黑"/>
              </a:defRPr>
            </a:pPr>
            <a:r>
              <a:t>完整文档：README / 实验报告 / 差异清单 / Git证据对照表 / PR-Review记录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09 问题反思与改进方向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微软雅黑"/>
              </a:defRPr>
            </a:pPr>
            <a:r>
              <a:t>遇到的主要问题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1D1D"/>
                </a:solidFill>
                <a:latin typeface="微软雅黑"/>
              </a:defRPr>
            </a:pPr>
            <a:r>
              <a:t>Node.js 版本不兼容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系统默认 Node v24 与 Ghost v6.59.0 不兼容（要求 ^22.23.1）。解决方案：下载 Node v22 便携版到项目目录，创建包装脚本切换运行环境。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486400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1D1D"/>
                </a:solidFill>
                <a:latin typeface="微软雅黑"/>
              </a:defRPr>
            </a:pPr>
            <a:r>
              <a:t>原生模块编译失败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better-sqlite3/re2 模块需要 VS C++ 构建工具。解决方案：设置 npm 预编译二进制镜像，直接下载预编译版本，绕过本地编译。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486400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393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1D1D"/>
                </a:solidFill>
                <a:latin typeface="微软雅黑"/>
              </a:defRPr>
            </a:pPr>
            <a:r>
              <a:t>gscan 主题校验工具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因网络环境无法安装运行 gscan。处理方式：记录为已知限制，主题基于官方 Source 开发，兼容性有上游保障，后续可在网络正常时补做。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微软雅黑"/>
              </a:defRPr>
            </a:pPr>
            <a:r>
              <a:t>收获与改进方向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486400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44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532D"/>
                </a:solidFill>
                <a:latin typeface="微软雅黑"/>
              </a:defRPr>
            </a:pPr>
            <a:r>
              <a:t>主要收获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深入理解了 Ghost 架构和主题系统；掌握了 Handlebars 模板引擎；学会了在成熟开源项目基础上进行二次开发的方法论；实践了 Git 分支管理和 Code Review 流程。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60320"/>
            <a:ext cx="5486400" cy="1097280"/>
          </a:xfrm>
          <a:prstGeom prst="roundRect">
            <a:avLst/>
          </a:prstGeom>
          <a:solidFill>
            <a:srgbClr val="FEF9C7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33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13F12"/>
                </a:solidFill>
                <a:latin typeface="微软雅黑"/>
              </a:defRPr>
            </a:pPr>
            <a:r>
              <a:t>短期改进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79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补做 gscan 主题校验；增加更多自动化测试；优化搜索结果排序算法；添加文章阅读量统计；完善 SEO 元数据配置。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48640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2219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长期规划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14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微软雅黑"/>
              </a:defRPr>
            </a:pPr>
            <a:r>
              <a:t>将自定义主题发布为开源项目；贡献代码回上游 Ghost；探索 Ghost 的 Members 订阅功能；集成第三方评论系统；搭建 CI/CD 自动化部署流程。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微软雅黑"/>
              </a:defRPr>
            </a:pPr>
            <a:r>
              <a:t>"开源不仅仅是使用代码，更是参与社区、贡献价值、共同成长。"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3A8A"/>
            </a:gs>
            <a:gs pos="100000">
              <a:srgbClr val="3B82F6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总结与致谢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182880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10360152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9784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1E3A8A"/>
                </a:solidFill>
                <a:latin typeface="微软雅黑"/>
              </a:defRPr>
            </a:pPr>
            <a:r>
              <a:t>本实验基于 Ghost v6.59.0 开源博客平台，完成了一个功能完整的个人博客系统。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1E3A8A"/>
                </a:solidFill>
                <a:latin typeface="微软雅黑"/>
              </a:defRPr>
            </a:pPr>
            <a:r>
              <a:t>实现了可注册、可写作、可评论、可搜索四大核心功能，开发了自定义主题 oss-blog-theme，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1E3A8A"/>
                </a:solidFill>
                <a:latin typeface="微软雅黑"/>
              </a:defRPr>
            </a:pPr>
            <a:r>
              <a:t>并完成了相关文章推荐和搜索增强两项自主扩展功能。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1E3A8A"/>
                </a:solidFill>
                <a:latin typeface="微软雅黑"/>
              </a:defRPr>
            </a:pPr>
            <a:r>
              <a:t>20项验收测试全部通过，遵循开源规范完成 Git 版本管理与完整文档交付。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交付物清单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FDBFE"/>
                </a:solidFill>
                <a:latin typeface="微软雅黑"/>
              </a:defRPr>
            </a:pPr>
            <a:r>
              <a:t>• 可运行博客系统（Ghost + 自定义主题）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FDBFE"/>
                </a:solidFill>
                <a:latin typeface="微软雅黑"/>
              </a:defRPr>
            </a:pPr>
            <a:r>
              <a:t>• 主题压缩包 oss-blog-theme.zip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FDBFE"/>
                </a:solidFill>
                <a:latin typeface="微软雅黑"/>
              </a:defRPr>
            </a:pPr>
            <a:r>
              <a:t>• 一键启动入口（HTML + BAT）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FDBFE"/>
                </a:solidFill>
                <a:latin typeface="微软雅黑"/>
              </a:defRPr>
            </a:pPr>
            <a:r>
              <a:t>• 20项验收测试报告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8463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FDBFE"/>
                </a:solidFill>
                <a:latin typeface="微软雅黑"/>
              </a:defRPr>
            </a:pPr>
            <a:r>
              <a:t>• 完整实验报告（Word + Markdown）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FDBFE"/>
                </a:solidFill>
                <a:latin typeface="微软雅黑"/>
              </a:defRPr>
            </a:pPr>
            <a:r>
              <a:t>• 上游基线差异清单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FDBFE"/>
                </a:solidFill>
                <a:latin typeface="微软雅黑"/>
              </a:defRPr>
            </a:pPr>
            <a:r>
              <a:t>• Git 证据对照表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FDBFE"/>
                </a:solidFill>
                <a:latin typeface="微软雅黑"/>
              </a:defRPr>
            </a:pPr>
            <a:r>
              <a:t>• PR/Code Review 记录 + 运行截图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感谢各位老师的聆听与指导！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